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75" r:id="rId5"/>
    <p:sldId id="264" r:id="rId6"/>
    <p:sldId id="263" r:id="rId7"/>
    <p:sldId id="272" r:id="rId8"/>
    <p:sldId id="267" r:id="rId9"/>
    <p:sldId id="273" r:id="rId10"/>
    <p:sldId id="266" r:id="rId11"/>
    <p:sldId id="268" r:id="rId12"/>
    <p:sldId id="274" r:id="rId13"/>
    <p:sldId id="271" r:id="rId14"/>
    <p:sldId id="276" r:id="rId15"/>
    <p:sldId id="260" r:id="rId16"/>
    <p:sldId id="261" r:id="rId17"/>
    <p:sldId id="26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E9E1"/>
    <a:srgbClr val="CCFFCC"/>
    <a:srgbClr val="66FFFF"/>
    <a:srgbClr val="76EA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E18545-444D-4C51-91D0-A033C7CFF720}" type="datetimeFigureOut">
              <a:rPr lang="en-US" smtClean="0"/>
              <a:pPr/>
              <a:t>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6E708D-3D75-4BBD-BE7D-EEBD06BFF29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6E708D-3D75-4BBD-BE7D-EEBD06BFF29D}" type="slidenum">
              <a:rPr lang="en-US" smtClean="0"/>
              <a:pPr/>
              <a:t>1</a:t>
            </a:fld>
            <a:endParaRPr lang="en-US"/>
          </a:p>
        </p:txBody>
      </p:sp>
    </p:spTree>
    <p:extLst>
      <p:ext uri="{BB962C8B-B14F-4D97-AF65-F5344CB8AC3E}">
        <p14:creationId xmlns:p14="http://schemas.microsoft.com/office/powerpoint/2010/main" val="940473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8991600" cy="1706562"/>
          </a:xfrm>
          <a:solidFill>
            <a:schemeClr val="accent6">
              <a:lumMod val="60000"/>
              <a:lumOff val="40000"/>
            </a:schemeClr>
          </a:solidFill>
        </p:spPr>
        <p:txBody>
          <a:bodyPr>
            <a:noAutofit/>
          </a:bodyPr>
          <a:lstStyle/>
          <a:p>
            <a:r>
              <a:rPr lang="en-US" sz="6000" b="1" dirty="0"/>
              <a:t>BIG MART SALES ANALYSIS           </a:t>
            </a:r>
          </a:p>
        </p:txBody>
      </p:sp>
      <p:sp>
        <p:nvSpPr>
          <p:cNvPr id="7" name="Content Placeholder 6"/>
          <p:cNvSpPr>
            <a:spLocks noGrp="1"/>
          </p:cNvSpPr>
          <p:nvPr>
            <p:ph idx="1"/>
          </p:nvPr>
        </p:nvSpPr>
        <p:spPr>
          <a:xfrm>
            <a:off x="0" y="1828800"/>
            <a:ext cx="9144000" cy="5029200"/>
          </a:xfrm>
          <a:solidFill>
            <a:schemeClr val="accent6">
              <a:lumMod val="60000"/>
              <a:lumOff val="40000"/>
            </a:schemeClr>
          </a:solidFill>
        </p:spPr>
        <p:txBody>
          <a:bodyPr>
            <a:normAutofit/>
          </a:bodyPr>
          <a:lstStyle/>
          <a:p>
            <a:r>
              <a:rPr lang="en-US" dirty="0"/>
              <a:t>              </a:t>
            </a:r>
          </a:p>
          <a:p>
            <a:endParaRPr lang="en-US" dirty="0"/>
          </a:p>
          <a:p>
            <a:endParaRPr lang="en-US" dirty="0"/>
          </a:p>
          <a:p>
            <a:endParaRPr lang="en-US" dirty="0"/>
          </a:p>
          <a:p>
            <a:endParaRPr lang="en-US" dirty="0"/>
          </a:p>
          <a:p>
            <a:endParaRPr lang="en-US" dirty="0"/>
          </a:p>
          <a:p>
            <a:endParaRPr lang="en-US" dirty="0"/>
          </a:p>
          <a:p>
            <a:pPr marL="0" indent="0" algn="r">
              <a:buNone/>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                                                                                                                          Name:- </a:t>
            </a:r>
            <a:r>
              <a:rPr lang="en-US" sz="1800" dirty="0">
                <a:solidFill>
                  <a:srgbClr val="4F81BD"/>
                </a:solidFill>
                <a:effectLst/>
                <a:latin typeface="Calibri" panose="020F0502020204030204" pitchFamily="34" charset="0"/>
                <a:ea typeface="Times New Roman" panose="02020603050405020304" pitchFamily="18" charset="0"/>
                <a:cs typeface="Times New Roman" panose="02020603050405020304" pitchFamily="18" charset="0"/>
              </a:rPr>
              <a:t> ABHISHEK</a:t>
            </a:r>
            <a:r>
              <a:rPr lang="en-US" dirty="0"/>
              <a:t>                                           </a:t>
            </a:r>
          </a:p>
        </p:txBody>
      </p:sp>
      <p:pic>
        <p:nvPicPr>
          <p:cNvPr id="8" name="Picture 7" descr="download (1).jpg"/>
          <p:cNvPicPr>
            <a:picLocks noChangeAspect="1"/>
          </p:cNvPicPr>
          <p:nvPr/>
        </p:nvPicPr>
        <p:blipFill>
          <a:blip r:embed="rId3"/>
          <a:stretch>
            <a:fillRect/>
          </a:stretch>
        </p:blipFill>
        <p:spPr>
          <a:xfrm>
            <a:off x="266700" y="1981200"/>
            <a:ext cx="8458200" cy="37581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normAutofit/>
          </a:bodyPr>
          <a:lstStyle/>
          <a:p>
            <a:r>
              <a:rPr lang="en-US" sz="4800" b="1" dirty="0">
                <a:latin typeface="Algerian" pitchFamily="82" charset="0"/>
              </a:rPr>
              <a:t>PROBLEM STATEMENT </a:t>
            </a:r>
          </a:p>
        </p:txBody>
      </p:sp>
      <p:sp>
        <p:nvSpPr>
          <p:cNvPr id="5" name="Content Placeholder 4"/>
          <p:cNvSpPr>
            <a:spLocks noGrp="1"/>
          </p:cNvSpPr>
          <p:nvPr>
            <p:ph idx="1"/>
          </p:nvPr>
        </p:nvSpPr>
        <p:spPr>
          <a:xfrm>
            <a:off x="457200" y="1524001"/>
            <a:ext cx="8229600" cy="2286000"/>
          </a:xfrm>
          <a:noFill/>
        </p:spPr>
        <p:txBody>
          <a:bodyPr>
            <a:normAutofit fontScale="70000" lnSpcReduction="20000"/>
          </a:bodyPr>
          <a:lstStyle/>
          <a:p>
            <a:pPr>
              <a:buNone/>
            </a:pPr>
            <a:r>
              <a:rPr lang="en-US" dirty="0"/>
              <a:t> </a:t>
            </a:r>
            <a:r>
              <a:rPr lang="en-US" i="1" dirty="0">
                <a:solidFill>
                  <a:schemeClr val="accent2">
                    <a:lumMod val="75000"/>
                  </a:schemeClr>
                </a:solidFill>
              </a:rPr>
              <a:t>In this research project</a:t>
            </a:r>
          </a:p>
          <a:p>
            <a:pPr>
              <a:buNone/>
            </a:pPr>
            <a:r>
              <a:rPr lang="en-US" dirty="0"/>
              <a:t>we will analyze the data of the company and will  predict the</a:t>
            </a:r>
          </a:p>
          <a:p>
            <a:pPr>
              <a:buNone/>
            </a:pPr>
            <a:r>
              <a:rPr lang="en-US" dirty="0"/>
              <a:t>sales of the company. As</a:t>
            </a:r>
            <a:r>
              <a:rPr lang="en-US" sz="3000" dirty="0">
                <a:solidFill>
                  <a:schemeClr val="accent4">
                    <a:lumMod val="75000"/>
                  </a:schemeClr>
                </a:solidFill>
              </a:rPr>
              <a:t> </a:t>
            </a:r>
            <a:r>
              <a:rPr lang="en-US" sz="4100" dirty="0">
                <a:solidFill>
                  <a:schemeClr val="accent4">
                    <a:lumMod val="75000"/>
                  </a:schemeClr>
                </a:solidFill>
              </a:rPr>
              <a:t>Regression </a:t>
            </a:r>
            <a:r>
              <a:rPr lang="en-US" dirty="0">
                <a:solidFill>
                  <a:schemeClr val="accent4">
                    <a:lumMod val="75000"/>
                  </a:schemeClr>
                </a:solidFill>
              </a:rPr>
              <a:t> </a:t>
            </a:r>
            <a:r>
              <a:rPr lang="en-US" dirty="0"/>
              <a:t>is an important machine</a:t>
            </a:r>
          </a:p>
          <a:p>
            <a:pPr>
              <a:buNone/>
            </a:pPr>
            <a:r>
              <a:rPr lang="en-US" dirty="0"/>
              <a:t>learning model for these kinds of problems. Thus we will solve the</a:t>
            </a:r>
          </a:p>
          <a:p>
            <a:pPr>
              <a:buNone/>
            </a:pPr>
            <a:r>
              <a:rPr lang="en-US" dirty="0"/>
              <a:t>regression problem </a:t>
            </a:r>
          </a:p>
          <a:p>
            <a:pPr>
              <a:buNone/>
            </a:pPr>
            <a:r>
              <a:rPr lang="en-US" dirty="0"/>
              <a:t> </a:t>
            </a:r>
          </a:p>
          <a:p>
            <a:pPr>
              <a:buNone/>
            </a:pPr>
            <a:endParaRPr lang="en-US" dirty="0"/>
          </a:p>
          <a:p>
            <a:pPr>
              <a:buNone/>
            </a:pPr>
            <a:endParaRPr lang="en-US" dirty="0"/>
          </a:p>
          <a:p>
            <a:pPr>
              <a:buNone/>
            </a:pPr>
            <a:endParaRPr lang="en-US" dirty="0"/>
          </a:p>
          <a:p>
            <a:pPr>
              <a:buNone/>
            </a:pPr>
            <a:endParaRPr lang="en-US" dirty="0"/>
          </a:p>
          <a:p>
            <a:pPr>
              <a:buNone/>
            </a:pPr>
            <a:endParaRPr lang="en-US" dirty="0"/>
          </a:p>
        </p:txBody>
      </p:sp>
      <p:pic>
        <p:nvPicPr>
          <p:cNvPr id="11" name="Picture 10" descr="maxresdefault.jpg"/>
          <p:cNvPicPr>
            <a:picLocks noChangeAspect="1"/>
          </p:cNvPicPr>
          <p:nvPr/>
        </p:nvPicPr>
        <p:blipFill>
          <a:blip r:embed="rId2"/>
          <a:stretch>
            <a:fillRect/>
          </a:stretch>
        </p:blipFill>
        <p:spPr>
          <a:xfrm>
            <a:off x="228600" y="3962400"/>
            <a:ext cx="8610600" cy="2895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229600" cy="762000"/>
          </a:xfrm>
          <a:solidFill>
            <a:schemeClr val="tx2">
              <a:lumMod val="40000"/>
              <a:lumOff val="60000"/>
            </a:schemeClr>
          </a:solidFill>
        </p:spPr>
        <p:txBody>
          <a:bodyPr>
            <a:normAutofit fontScale="90000"/>
          </a:bodyPr>
          <a:lstStyle/>
          <a:p>
            <a:br>
              <a:rPr lang="en-US" b="1" dirty="0"/>
            </a:br>
            <a:r>
              <a:rPr lang="en-US" b="1" dirty="0"/>
              <a:t>DATA AND SOURCES OF DATA:-</a:t>
            </a:r>
            <a:br>
              <a:rPr lang="en-US" b="1" dirty="0"/>
            </a:br>
            <a:endParaRPr lang="en-US" b="1" dirty="0"/>
          </a:p>
        </p:txBody>
      </p:sp>
      <p:sp>
        <p:nvSpPr>
          <p:cNvPr id="3" name="Content Placeholder 2"/>
          <p:cNvSpPr>
            <a:spLocks noGrp="1"/>
          </p:cNvSpPr>
          <p:nvPr>
            <p:ph idx="1"/>
          </p:nvPr>
        </p:nvSpPr>
        <p:spPr>
          <a:xfrm>
            <a:off x="228600" y="2362200"/>
            <a:ext cx="8305800" cy="4267200"/>
          </a:xfrm>
          <a:solidFill>
            <a:schemeClr val="tx2">
              <a:lumMod val="20000"/>
              <a:lumOff val="80000"/>
            </a:schemeClr>
          </a:solidFill>
        </p:spPr>
        <p:txBody>
          <a:bodyPr>
            <a:normAutofit/>
          </a:bodyPr>
          <a:lstStyle/>
          <a:p>
            <a:r>
              <a:rPr lang="en-US" dirty="0"/>
              <a:t>The data which was required for the project is collected from a </a:t>
            </a:r>
            <a:r>
              <a:rPr lang="en-US" dirty="0" err="1"/>
              <a:t>Kaggle</a:t>
            </a:r>
            <a:r>
              <a:rPr lang="en-US" dirty="0"/>
              <a:t> Dataset.</a:t>
            </a:r>
          </a:p>
          <a:p>
            <a:endParaRPr lang="en-US" dirty="0"/>
          </a:p>
          <a:p>
            <a:r>
              <a:rPr lang="en-US" dirty="0"/>
              <a:t>This dataset includes the information regarding </a:t>
            </a:r>
            <a:r>
              <a:rPr lang="en-US" dirty="0" err="1"/>
              <a:t>BIgMart</a:t>
            </a:r>
            <a:r>
              <a:rPr lang="en-US" dirty="0"/>
              <a:t> company’s items sales.</a:t>
            </a:r>
          </a:p>
          <a:p>
            <a:endParaRPr lang="en-US" dirty="0"/>
          </a:p>
          <a:p>
            <a:pPr>
              <a:buNone/>
            </a:pPr>
            <a:endParaRPr lang="en-US" dirty="0"/>
          </a:p>
        </p:txBody>
      </p:sp>
      <p:sp>
        <p:nvSpPr>
          <p:cNvPr id="4" name="Title 1"/>
          <p:cNvSpPr txBox="1">
            <a:spLocks/>
          </p:cNvSpPr>
          <p:nvPr/>
        </p:nvSpPr>
        <p:spPr>
          <a:xfrm>
            <a:off x="609600" y="3124200"/>
            <a:ext cx="8229600" cy="838200"/>
          </a:xfrm>
          <a:prstGeom prst="rect">
            <a:avLst/>
          </a:prstGeom>
          <a:noFill/>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a:solidFill>
            <a:schemeClr val="accent2">
              <a:lumMod val="40000"/>
              <a:lumOff val="60000"/>
            </a:schemeClr>
          </a:solidFill>
        </p:spPr>
        <p:txBody>
          <a:bodyPr>
            <a:normAutofit fontScale="90000"/>
          </a:bodyPr>
          <a:lstStyle/>
          <a:p>
            <a:br>
              <a:rPr lang="en-US" b="1" dirty="0"/>
            </a:br>
            <a:r>
              <a:rPr lang="en-US" b="1" dirty="0"/>
              <a:t>Step used in </a:t>
            </a:r>
            <a:r>
              <a:rPr lang="en-US" b="1" dirty="0" err="1"/>
              <a:t>jupyter</a:t>
            </a:r>
            <a:r>
              <a:rPr lang="en-US" b="1" dirty="0"/>
              <a:t> notebook To predict sales:-</a:t>
            </a:r>
            <a:br>
              <a:rPr lang="en-US" dirty="0"/>
            </a:br>
            <a:endParaRPr lang="en-US" dirty="0"/>
          </a:p>
        </p:txBody>
      </p:sp>
      <p:sp>
        <p:nvSpPr>
          <p:cNvPr id="3" name="Subtitle 2"/>
          <p:cNvSpPr>
            <a:spLocks noGrp="1"/>
          </p:cNvSpPr>
          <p:nvPr>
            <p:ph type="subTitle" idx="1"/>
          </p:nvPr>
        </p:nvSpPr>
        <p:spPr>
          <a:xfrm>
            <a:off x="533400" y="2133600"/>
            <a:ext cx="7848600" cy="4495800"/>
          </a:xfrm>
          <a:solidFill>
            <a:schemeClr val="accent2">
              <a:lumMod val="20000"/>
              <a:lumOff val="80000"/>
            </a:schemeClr>
          </a:solidFill>
        </p:spPr>
        <p:txBody>
          <a:bodyPr>
            <a:normAutofit fontScale="85000" lnSpcReduction="20000"/>
          </a:bodyPr>
          <a:lstStyle/>
          <a:p>
            <a:pPr algn="l"/>
            <a:r>
              <a:rPr lang="en-US" dirty="0">
                <a:solidFill>
                  <a:schemeClr val="tx1"/>
                </a:solidFill>
              </a:rPr>
              <a:t>1). Data cleaning.</a:t>
            </a:r>
          </a:p>
          <a:p>
            <a:pPr algn="l"/>
            <a:r>
              <a:rPr lang="en-US" dirty="0">
                <a:solidFill>
                  <a:schemeClr val="tx1"/>
                </a:solidFill>
              </a:rPr>
              <a:t>2). Data Visualization.</a:t>
            </a:r>
          </a:p>
          <a:p>
            <a:pPr algn="l"/>
            <a:r>
              <a:rPr lang="en-US" dirty="0">
                <a:solidFill>
                  <a:schemeClr val="tx1"/>
                </a:solidFill>
              </a:rPr>
              <a:t>3). Preprocessing task before model building.</a:t>
            </a:r>
          </a:p>
          <a:p>
            <a:pPr algn="l"/>
            <a:r>
              <a:rPr lang="en-US" dirty="0">
                <a:solidFill>
                  <a:schemeClr val="tx1"/>
                </a:solidFill>
              </a:rPr>
              <a:t>     a). label encoding.</a:t>
            </a:r>
          </a:p>
          <a:p>
            <a:pPr algn="l"/>
            <a:r>
              <a:rPr lang="en-US" dirty="0">
                <a:solidFill>
                  <a:schemeClr val="tx1"/>
                </a:solidFill>
              </a:rPr>
              <a:t>     b). splitting our data into train and test.</a:t>
            </a:r>
          </a:p>
          <a:p>
            <a:pPr algn="l"/>
            <a:r>
              <a:rPr lang="en-US" dirty="0">
                <a:solidFill>
                  <a:schemeClr val="tx1"/>
                </a:solidFill>
              </a:rPr>
              <a:t>     c). standardization.</a:t>
            </a:r>
          </a:p>
          <a:p>
            <a:pPr algn="l"/>
            <a:r>
              <a:rPr lang="en-US" dirty="0">
                <a:solidFill>
                  <a:schemeClr val="tx1"/>
                </a:solidFill>
              </a:rPr>
              <a:t>     d). model building.</a:t>
            </a:r>
          </a:p>
          <a:p>
            <a:pPr algn="l"/>
            <a:r>
              <a:rPr lang="en-US" dirty="0">
                <a:solidFill>
                  <a:schemeClr val="tx1"/>
                </a:solidFill>
              </a:rPr>
              <a:t>4) Evaluation using Linear </a:t>
            </a:r>
            <a:r>
              <a:rPr lang="en-US" dirty="0" err="1">
                <a:solidFill>
                  <a:schemeClr val="tx1"/>
                </a:solidFill>
              </a:rPr>
              <a:t>regressor</a:t>
            </a:r>
            <a:r>
              <a:rPr lang="en-US" dirty="0">
                <a:solidFill>
                  <a:schemeClr val="tx1"/>
                </a:solidFill>
              </a:rPr>
              <a:t>.</a:t>
            </a:r>
          </a:p>
          <a:p>
            <a:pPr algn="l"/>
            <a:r>
              <a:rPr lang="en-US" dirty="0">
                <a:solidFill>
                  <a:schemeClr val="tx1"/>
                </a:solidFill>
              </a:rPr>
              <a:t>5) Evaluation using random forest </a:t>
            </a:r>
            <a:r>
              <a:rPr lang="en-US" dirty="0" err="1">
                <a:solidFill>
                  <a:schemeClr val="tx1"/>
                </a:solidFill>
              </a:rPr>
              <a:t>regressor</a:t>
            </a:r>
            <a:r>
              <a:rPr lang="en-US" dirty="0">
                <a:solidFill>
                  <a:schemeClr val="tx1"/>
                </a:solidFill>
              </a:rPr>
              <a:t>.</a:t>
            </a:r>
          </a:p>
          <a:p>
            <a:pPr algn="l"/>
            <a:r>
              <a:rPr lang="en-US" dirty="0">
                <a:solidFill>
                  <a:schemeClr val="tx1"/>
                </a:solidFill>
              </a:rPr>
              <a:t>6) Actual </a:t>
            </a:r>
            <a:r>
              <a:rPr lang="en-US" dirty="0" err="1">
                <a:solidFill>
                  <a:schemeClr val="tx1"/>
                </a:solidFill>
              </a:rPr>
              <a:t>vs</a:t>
            </a:r>
            <a:r>
              <a:rPr lang="en-US" dirty="0">
                <a:solidFill>
                  <a:schemeClr val="tx1"/>
                </a:solidFill>
              </a:rPr>
              <a:t> Predicted sales graph.</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467600" cy="1371600"/>
          </a:xfrm>
          <a:solidFill>
            <a:schemeClr val="tx2">
              <a:lumMod val="40000"/>
              <a:lumOff val="60000"/>
            </a:schemeClr>
          </a:solidFill>
        </p:spPr>
        <p:txBody>
          <a:bodyPr/>
          <a:lstStyle/>
          <a:p>
            <a:r>
              <a:rPr lang="en-US" b="1" dirty="0"/>
              <a:t>DATA VISUALIZATION</a:t>
            </a:r>
          </a:p>
        </p:txBody>
      </p:sp>
      <p:sp>
        <p:nvSpPr>
          <p:cNvPr id="11" name="Subtitle 10"/>
          <p:cNvSpPr>
            <a:spLocks noGrp="1"/>
          </p:cNvSpPr>
          <p:nvPr>
            <p:ph type="subTitle" idx="1"/>
          </p:nvPr>
        </p:nvSpPr>
        <p:spPr/>
        <p:txBody>
          <a:bodyPr/>
          <a:lstStyle/>
          <a:p>
            <a:endParaRPr lang="en-US"/>
          </a:p>
        </p:txBody>
      </p:sp>
      <p:pic>
        <p:nvPicPr>
          <p:cNvPr id="9" name="Picture 8" descr="shutterstock_488322949.jpg"/>
          <p:cNvPicPr>
            <a:picLocks noChangeAspect="1"/>
          </p:cNvPicPr>
          <p:nvPr/>
        </p:nvPicPr>
        <p:blipFill>
          <a:blip r:embed="rId2"/>
          <a:stretch>
            <a:fillRect/>
          </a:stretch>
        </p:blipFill>
        <p:spPr>
          <a:xfrm>
            <a:off x="762000" y="1858063"/>
            <a:ext cx="7391400" cy="45531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solidFill>
            <a:schemeClr val="accent3">
              <a:lumMod val="60000"/>
              <a:lumOff val="40000"/>
            </a:schemeClr>
          </a:solidFill>
        </p:spPr>
        <p:txBody>
          <a:bodyPr>
            <a:normAutofit fontScale="90000"/>
          </a:bodyPr>
          <a:lstStyle/>
          <a:p>
            <a:r>
              <a:rPr lang="en-US" dirty="0"/>
              <a:t>GRAPHS USING :</a:t>
            </a:r>
            <a:br>
              <a:rPr lang="en-US" dirty="0"/>
            </a:br>
            <a:r>
              <a:rPr lang="en-US" dirty="0"/>
              <a:t>MATPLOTLIB &amp; SEABORN </a:t>
            </a:r>
          </a:p>
        </p:txBody>
      </p:sp>
      <p:sp>
        <p:nvSpPr>
          <p:cNvPr id="9" name="Content Placeholder 8"/>
          <p:cNvSpPr>
            <a:spLocks noGrp="1"/>
          </p:cNvSpPr>
          <p:nvPr>
            <p:ph sz="half" idx="2"/>
          </p:nvPr>
        </p:nvSpPr>
        <p:spPr>
          <a:xfrm>
            <a:off x="4953000" y="1828800"/>
            <a:ext cx="3733800" cy="4495800"/>
          </a:xfrm>
        </p:spPr>
        <p:txBody>
          <a:bodyPr>
            <a:normAutofit/>
          </a:bodyPr>
          <a:lstStyle/>
          <a:p>
            <a:endParaRPr lang="en-US" sz="1800" b="1" dirty="0"/>
          </a:p>
          <a:p>
            <a:r>
              <a:rPr lang="en-US" sz="1800" b="1" dirty="0"/>
              <a:t>MEDIUM SIZED ITEMS HIGHLY SOLD:</a:t>
            </a:r>
          </a:p>
        </p:txBody>
      </p:sp>
      <p:pic>
        <p:nvPicPr>
          <p:cNvPr id="10" name="Picture 9"/>
          <p:cNvPicPr/>
          <p:nvPr/>
        </p:nvPicPr>
        <p:blipFill>
          <a:blip r:embed="rId2"/>
          <a:srcRect/>
          <a:stretch>
            <a:fillRect/>
          </a:stretch>
        </p:blipFill>
        <p:spPr bwMode="auto">
          <a:xfrm>
            <a:off x="4724400" y="3200400"/>
            <a:ext cx="3581400" cy="3276600"/>
          </a:xfrm>
          <a:prstGeom prst="rect">
            <a:avLst/>
          </a:prstGeom>
          <a:noFill/>
          <a:ln w="9525">
            <a:noFill/>
            <a:miter lim="800000"/>
            <a:headEnd/>
            <a:tailEnd/>
          </a:ln>
        </p:spPr>
      </p:pic>
      <p:pic>
        <p:nvPicPr>
          <p:cNvPr id="11" name="Picture 2"/>
          <p:cNvPicPr>
            <a:picLocks noGrp="1" noChangeAspect="1" noChangeArrowheads="1"/>
          </p:cNvPicPr>
          <p:nvPr>
            <p:ph sz="half" idx="1"/>
          </p:nvPr>
        </p:nvPicPr>
        <p:blipFill>
          <a:blip r:embed="rId3"/>
          <a:srcRect/>
          <a:stretch>
            <a:fillRect/>
          </a:stretch>
        </p:blipFill>
        <p:spPr bwMode="auto">
          <a:xfrm>
            <a:off x="324537" y="3200400"/>
            <a:ext cx="4119739" cy="3006030"/>
          </a:xfrm>
          <a:prstGeom prst="rect">
            <a:avLst/>
          </a:prstGeom>
          <a:noFill/>
          <a:ln w="9525">
            <a:noFill/>
            <a:miter lim="800000"/>
            <a:headEnd/>
            <a:tailEnd/>
          </a:ln>
          <a:effectLst/>
        </p:spPr>
      </p:pic>
      <p:sp>
        <p:nvSpPr>
          <p:cNvPr id="13" name="TextBox 12"/>
          <p:cNvSpPr txBox="1"/>
          <p:nvPr/>
        </p:nvSpPr>
        <p:spPr>
          <a:xfrm>
            <a:off x="457200" y="1981200"/>
            <a:ext cx="3962400" cy="923330"/>
          </a:xfrm>
          <a:prstGeom prst="rect">
            <a:avLst/>
          </a:prstGeom>
          <a:noFill/>
        </p:spPr>
        <p:txBody>
          <a:bodyPr wrap="square" rtlCol="0">
            <a:spAutoFit/>
          </a:bodyPr>
          <a:lstStyle/>
          <a:p>
            <a:r>
              <a:rPr lang="en-US" b="1" dirty="0"/>
              <a:t>SUPERMARKET TYPE 1 :HIGHEST         ITEMS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a:solidFill>
            <a:schemeClr val="accent5"/>
          </a:solidFill>
        </p:spPr>
        <p:txBody>
          <a:bodyPr/>
          <a:lstStyle/>
          <a:p>
            <a:r>
              <a:rPr lang="en-US" dirty="0"/>
              <a:t>GRAPHS</a:t>
            </a:r>
          </a:p>
        </p:txBody>
      </p:sp>
      <p:pic>
        <p:nvPicPr>
          <p:cNvPr id="5" name="Content Placeholder 4"/>
          <p:cNvPicPr>
            <a:picLocks noGrp="1"/>
          </p:cNvPicPr>
          <p:nvPr>
            <p:ph sz="half" idx="1"/>
          </p:nvPr>
        </p:nvPicPr>
        <p:blipFill>
          <a:blip r:embed="rId2"/>
          <a:srcRect/>
          <a:stretch>
            <a:fillRect/>
          </a:stretch>
        </p:blipFill>
        <p:spPr bwMode="auto">
          <a:xfrm>
            <a:off x="381000" y="2971800"/>
            <a:ext cx="3657600" cy="3124200"/>
          </a:xfrm>
          <a:prstGeom prst="rect">
            <a:avLst/>
          </a:prstGeom>
          <a:noFill/>
          <a:ln w="9525">
            <a:noFill/>
            <a:miter lim="800000"/>
            <a:headEnd/>
            <a:tailEnd/>
          </a:ln>
        </p:spPr>
      </p:pic>
      <p:sp>
        <p:nvSpPr>
          <p:cNvPr id="7" name="TextBox 6"/>
          <p:cNvSpPr txBox="1"/>
          <p:nvPr/>
        </p:nvSpPr>
        <p:spPr>
          <a:xfrm>
            <a:off x="457200" y="1905001"/>
            <a:ext cx="3810000" cy="646331"/>
          </a:xfrm>
          <a:prstGeom prst="rect">
            <a:avLst/>
          </a:prstGeom>
          <a:noFill/>
        </p:spPr>
        <p:txBody>
          <a:bodyPr wrap="square" rtlCol="0">
            <a:spAutoFit/>
          </a:bodyPr>
          <a:lstStyle/>
          <a:p>
            <a:r>
              <a:rPr lang="en-US" b="1" dirty="0"/>
              <a:t>Show no. of Item type in Item fat content</a:t>
            </a:r>
          </a:p>
        </p:txBody>
      </p:sp>
      <p:pic>
        <p:nvPicPr>
          <p:cNvPr id="8" name="Content Placeholder 7"/>
          <p:cNvPicPr>
            <a:picLocks noGrp="1"/>
          </p:cNvPicPr>
          <p:nvPr>
            <p:ph sz="half" idx="2"/>
          </p:nvPr>
        </p:nvPicPr>
        <p:blipFill>
          <a:blip r:embed="rId3"/>
          <a:srcRect/>
          <a:stretch>
            <a:fillRect/>
          </a:stretch>
        </p:blipFill>
        <p:spPr bwMode="auto">
          <a:xfrm>
            <a:off x="4648200" y="2805906"/>
            <a:ext cx="3886200" cy="3594894"/>
          </a:xfrm>
          <a:prstGeom prst="rect">
            <a:avLst/>
          </a:prstGeom>
          <a:noFill/>
          <a:ln w="9525">
            <a:noFill/>
            <a:miter lim="800000"/>
            <a:headEnd/>
            <a:tailEnd/>
          </a:ln>
        </p:spPr>
      </p:pic>
      <p:sp>
        <p:nvSpPr>
          <p:cNvPr id="10" name="TextBox 9"/>
          <p:cNvSpPr txBox="1"/>
          <p:nvPr/>
        </p:nvSpPr>
        <p:spPr>
          <a:xfrm>
            <a:off x="4648200" y="1981200"/>
            <a:ext cx="3429000" cy="646331"/>
          </a:xfrm>
          <a:prstGeom prst="rect">
            <a:avLst/>
          </a:prstGeom>
          <a:noFill/>
        </p:spPr>
        <p:txBody>
          <a:bodyPr wrap="square" rtlCol="0">
            <a:spAutoFit/>
          </a:bodyPr>
          <a:lstStyle/>
          <a:p>
            <a:r>
              <a:rPr lang="en-US" b="1" dirty="0"/>
              <a:t>Outlet Establishment Year and Item Outlet Sales</a:t>
            </a:r>
          </a:p>
        </p:txBody>
      </p:sp>
      <p:cxnSp>
        <p:nvCxnSpPr>
          <p:cNvPr id="12" name="Straight Connector 11"/>
          <p:cNvCxnSpPr/>
          <p:nvPr/>
        </p:nvCxnSpPr>
        <p:spPr>
          <a:xfrm rot="16200000" flipH="1">
            <a:off x="1828800" y="4114800"/>
            <a:ext cx="5410200" cy="762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60000"/>
              <a:lumOff val="40000"/>
            </a:schemeClr>
          </a:solidFill>
        </p:spPr>
        <p:txBody>
          <a:bodyPr>
            <a:normAutofit fontScale="90000"/>
          </a:bodyPr>
          <a:lstStyle/>
          <a:p>
            <a:r>
              <a:rPr lang="en-US" b="1" dirty="0"/>
              <a:t>MACHINE LEARING TECHNIQUE USED:</a:t>
            </a:r>
          </a:p>
        </p:txBody>
      </p:sp>
      <p:sp>
        <p:nvSpPr>
          <p:cNvPr id="3" name="Content Placeholder 2"/>
          <p:cNvSpPr>
            <a:spLocks noGrp="1"/>
          </p:cNvSpPr>
          <p:nvPr>
            <p:ph idx="1"/>
          </p:nvPr>
        </p:nvSpPr>
        <p:spPr>
          <a:solidFill>
            <a:srgbClr val="FFFF00"/>
          </a:solidFill>
        </p:spPr>
        <p:txBody>
          <a:bodyPr/>
          <a:lstStyle/>
          <a:p>
            <a:r>
              <a:rPr lang="en-US" b="1" dirty="0"/>
              <a:t>        MULTIPLE LINEAR REGRESSION</a:t>
            </a:r>
          </a:p>
          <a:p>
            <a:endParaRPr lang="en-US" b="1" dirty="0"/>
          </a:p>
        </p:txBody>
      </p:sp>
      <p:pic>
        <p:nvPicPr>
          <p:cNvPr id="4" name="Picture 3" descr="1_a3HFulvxQQM32dHOY_Dtqw.jpeg"/>
          <p:cNvPicPr>
            <a:picLocks noChangeAspect="1"/>
          </p:cNvPicPr>
          <p:nvPr/>
        </p:nvPicPr>
        <p:blipFill>
          <a:blip r:embed="rId2"/>
          <a:stretch>
            <a:fillRect/>
          </a:stretch>
        </p:blipFill>
        <p:spPr>
          <a:xfrm>
            <a:off x="533400" y="1676401"/>
            <a:ext cx="8229600" cy="43291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1470025"/>
          </a:xfrm>
          <a:solidFill>
            <a:schemeClr val="accent1">
              <a:lumMod val="20000"/>
              <a:lumOff val="80000"/>
            </a:schemeClr>
          </a:solidFill>
        </p:spPr>
        <p:txBody>
          <a:bodyPr>
            <a:normAutofit/>
          </a:bodyPr>
          <a:lstStyle/>
          <a:p>
            <a:r>
              <a:rPr lang="en-US" dirty="0"/>
              <a:t>Linear regression</a:t>
            </a:r>
          </a:p>
        </p:txBody>
      </p:sp>
      <p:sp>
        <p:nvSpPr>
          <p:cNvPr id="3" name="Subtitle 2"/>
          <p:cNvSpPr>
            <a:spLocks noGrp="1"/>
          </p:cNvSpPr>
          <p:nvPr>
            <p:ph type="subTitle" idx="1"/>
          </p:nvPr>
        </p:nvSpPr>
        <p:spPr>
          <a:xfrm>
            <a:off x="990600" y="2286000"/>
            <a:ext cx="7010400" cy="3657600"/>
          </a:xfrm>
          <a:solidFill>
            <a:schemeClr val="accent5">
              <a:lumMod val="20000"/>
              <a:lumOff val="80000"/>
            </a:schemeClr>
          </a:solidFill>
        </p:spPr>
        <p:txBody>
          <a:bodyPr>
            <a:normAutofit/>
          </a:bodyPr>
          <a:lstStyle/>
          <a:p>
            <a:r>
              <a:rPr lang="en-US" sz="2000" dirty="0">
                <a:solidFill>
                  <a:srgbClr val="00B0F0"/>
                </a:solidFill>
              </a:rPr>
              <a:t>Linear regression is a supervised machine learning algorithm that is the most commonly used predictive analysis. This Regression model defines the relationship between the dependent as well as the independent variable. The dependent variable is also known as the response variable and can be denoted by X. The Independent variables are an input factor and are also known as the explanatory or predictor variables and can be denoted as </a:t>
            </a:r>
            <a:r>
              <a:rPr lang="en-US" sz="2000" b="1" dirty="0">
                <a:solidFill>
                  <a:srgbClr val="00B0F0"/>
                </a:solidFill>
              </a:rPr>
              <a:t>Y</a:t>
            </a:r>
            <a:r>
              <a:rPr lang="en-US" sz="2000" dirty="0">
                <a:solidFill>
                  <a:srgbClr val="00B0F0"/>
                </a:solidFill>
              </a:rPr>
              <a:t> in this </a:t>
            </a:r>
            <a:r>
              <a:rPr lang="en-US" sz="2000" dirty="0" err="1">
                <a:solidFill>
                  <a:srgbClr val="00B0F0"/>
                </a:solidFill>
              </a:rPr>
              <a:t>case.evaluation</a:t>
            </a:r>
            <a:r>
              <a:rPr lang="en-US" sz="2000" dirty="0">
                <a:solidFill>
                  <a:srgbClr val="00B0F0"/>
                </a:solidFill>
              </a:rPr>
              <a:t> by linear regression.</a:t>
            </a:r>
          </a:p>
          <a:p>
            <a:r>
              <a:rPr lang="en-US" sz="2000" dirty="0" err="1">
                <a:solidFill>
                  <a:schemeClr val="tx1"/>
                </a:solidFill>
              </a:rPr>
              <a:t>mean_absolute_error</a:t>
            </a:r>
            <a:r>
              <a:rPr lang="en-US" sz="2000" dirty="0">
                <a:solidFill>
                  <a:schemeClr val="tx1"/>
                </a:solidFill>
              </a:rPr>
              <a:t>:-  </a:t>
            </a:r>
            <a:r>
              <a:rPr lang="en-US" sz="2000" dirty="0">
                <a:solidFill>
                  <a:srgbClr val="00B0F0"/>
                </a:solidFill>
              </a:rPr>
              <a:t>477.9858904633177</a:t>
            </a:r>
          </a:p>
          <a:p>
            <a:r>
              <a:rPr lang="en-US" sz="2000" dirty="0">
                <a:solidFill>
                  <a:schemeClr val="tx1"/>
                </a:solidFill>
              </a:rPr>
              <a:t>    r2_score:-                         </a:t>
            </a:r>
            <a:r>
              <a:rPr lang="en-US" sz="2000" dirty="0">
                <a:solidFill>
                  <a:srgbClr val="00B0F0"/>
                </a:solidFill>
              </a:rPr>
              <a:t>0.5829985235005208</a:t>
            </a:r>
          </a:p>
          <a:p>
            <a:r>
              <a:rPr lang="en-US" sz="2000" dirty="0">
                <a:solidFill>
                  <a:schemeClr val="tx1"/>
                </a:solidFill>
              </a:rPr>
              <a:t>RMSE value:-                      </a:t>
            </a:r>
            <a:r>
              <a:rPr lang="en-US" sz="2000" dirty="0">
                <a:solidFill>
                  <a:srgbClr val="00B0F0"/>
                </a:solidFill>
              </a:rPr>
              <a:t>599.4950981614279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solidFill>
            <a:srgbClr val="FFFF00"/>
          </a:solidFill>
        </p:spPr>
        <p:txBody>
          <a:bodyPr>
            <a:normAutofit fontScale="90000"/>
          </a:bodyPr>
          <a:lstStyle/>
          <a:p>
            <a:r>
              <a:rPr lang="en-US" dirty="0"/>
              <a:t>Actual </a:t>
            </a:r>
            <a:r>
              <a:rPr lang="en-US" dirty="0" err="1"/>
              <a:t>vs</a:t>
            </a:r>
            <a:r>
              <a:rPr lang="en-US" dirty="0"/>
              <a:t> Predicted Data by linear regression</a:t>
            </a:r>
          </a:p>
        </p:txBody>
      </p:sp>
      <p:pic>
        <p:nvPicPr>
          <p:cNvPr id="6" name="Content Placeholder 5"/>
          <p:cNvPicPr>
            <a:picLocks noGrp="1"/>
          </p:cNvPicPr>
          <p:nvPr>
            <p:ph idx="1"/>
          </p:nvPr>
        </p:nvPicPr>
        <p:blipFill>
          <a:blip r:embed="rId2"/>
          <a:srcRect/>
          <a:stretch>
            <a:fillRect/>
          </a:stretch>
        </p:blipFill>
        <p:spPr bwMode="auto">
          <a:xfrm>
            <a:off x="914400" y="1600200"/>
            <a:ext cx="6781800" cy="47244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solidFill>
            <a:schemeClr val="tx2">
              <a:lumMod val="60000"/>
              <a:lumOff val="40000"/>
            </a:schemeClr>
          </a:solidFill>
        </p:spPr>
        <p:txBody>
          <a:bodyPr/>
          <a:lstStyle/>
          <a:p>
            <a:r>
              <a:rPr lang="en-US" b="1" dirty="0"/>
              <a:t>RANDOM FOREST REGRESSOR</a:t>
            </a:r>
          </a:p>
        </p:txBody>
      </p:sp>
      <p:pic>
        <p:nvPicPr>
          <p:cNvPr id="7" name="Content Placeholder 6" descr="maxresdefault (1).jpg"/>
          <p:cNvPicPr>
            <a:picLocks noGrp="1" noChangeAspect="1"/>
          </p:cNvPicPr>
          <p:nvPr>
            <p:ph idx="1"/>
          </p:nvPr>
        </p:nvPicPr>
        <p:blipFill>
          <a:blip r:embed="rId2"/>
          <a:stretch>
            <a:fillRect/>
          </a:stretch>
        </p:blipFill>
        <p:spPr>
          <a:xfrm>
            <a:off x="548922" y="1600200"/>
            <a:ext cx="7756879" cy="34290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09600"/>
            <a:ext cx="7772400" cy="1470025"/>
          </a:xfrm>
          <a:solidFill>
            <a:schemeClr val="accent1">
              <a:lumMod val="20000"/>
              <a:lumOff val="80000"/>
            </a:schemeClr>
          </a:solidFill>
        </p:spPr>
        <p:txBody>
          <a:bodyPr/>
          <a:lstStyle/>
          <a:p>
            <a:r>
              <a:rPr lang="en-US" dirty="0"/>
              <a:t>Random Forest</a:t>
            </a:r>
          </a:p>
        </p:txBody>
      </p:sp>
      <p:sp>
        <p:nvSpPr>
          <p:cNvPr id="3" name="Subtitle 2"/>
          <p:cNvSpPr>
            <a:spLocks noGrp="1"/>
          </p:cNvSpPr>
          <p:nvPr>
            <p:ph type="subTitle" idx="1"/>
          </p:nvPr>
        </p:nvSpPr>
        <p:spPr>
          <a:xfrm>
            <a:off x="1066800" y="2209800"/>
            <a:ext cx="7239000" cy="4114800"/>
          </a:xfrm>
          <a:solidFill>
            <a:schemeClr val="accent5">
              <a:lumMod val="20000"/>
              <a:lumOff val="80000"/>
            </a:schemeClr>
          </a:solidFill>
        </p:spPr>
        <p:txBody>
          <a:bodyPr>
            <a:normAutofit lnSpcReduction="10000"/>
          </a:bodyPr>
          <a:lstStyle/>
          <a:p>
            <a:r>
              <a:rPr lang="en-US" sz="2100" dirty="0">
                <a:solidFill>
                  <a:srgbClr val="00B0F0"/>
                </a:solidFill>
              </a:rPr>
              <a:t>Random forest is a Machine Learning algorithm that is used for classification as well as regression problems. This ML algorithm combines multiple decision trees together to create a model that has high accuracy and more stability. Rather than depending on just one decision tree algorithm, the random forest takes the predicted outcome from each tree and also analyses the majority votes of predictions, and predicts the final output. Evaluation by Random forest.</a:t>
            </a:r>
          </a:p>
          <a:p>
            <a:endParaRPr lang="en-US" sz="2100" dirty="0">
              <a:solidFill>
                <a:srgbClr val="00B0F0"/>
              </a:solidFill>
            </a:endParaRPr>
          </a:p>
          <a:p>
            <a:r>
              <a:rPr lang="en-US" sz="2400" dirty="0" err="1">
                <a:solidFill>
                  <a:schemeClr val="tx1"/>
                </a:solidFill>
              </a:rPr>
              <a:t>mean_absolute_error</a:t>
            </a:r>
            <a:r>
              <a:rPr lang="en-US" sz="2400" dirty="0">
                <a:solidFill>
                  <a:schemeClr val="tx1"/>
                </a:solidFill>
              </a:rPr>
              <a:t>:-       </a:t>
            </a:r>
            <a:r>
              <a:rPr lang="en-US" sz="2400" dirty="0">
                <a:solidFill>
                  <a:srgbClr val="00B0F0"/>
                </a:solidFill>
              </a:rPr>
              <a:t>417.9643988269795</a:t>
            </a:r>
          </a:p>
          <a:p>
            <a:r>
              <a:rPr lang="en-US" sz="2400" dirty="0">
                <a:solidFill>
                  <a:schemeClr val="tx1"/>
                </a:solidFill>
              </a:rPr>
              <a:t>r2_score:-                            </a:t>
            </a:r>
            <a:r>
              <a:rPr lang="en-US" sz="2400" dirty="0">
                <a:solidFill>
                  <a:srgbClr val="00B0F0"/>
                </a:solidFill>
              </a:rPr>
              <a:t>  0.6536310037610501</a:t>
            </a:r>
          </a:p>
          <a:p>
            <a:r>
              <a:rPr lang="en-US" sz="2400" dirty="0" err="1">
                <a:solidFill>
                  <a:schemeClr val="tx1"/>
                </a:solidFill>
              </a:rPr>
              <a:t>Rmse</a:t>
            </a:r>
            <a:r>
              <a:rPr lang="en-US" sz="2400" dirty="0">
                <a:solidFill>
                  <a:schemeClr val="tx1"/>
                </a:solidFill>
              </a:rPr>
              <a:t> value:-                          </a:t>
            </a:r>
            <a:r>
              <a:rPr lang="en-US" sz="2400" dirty="0">
                <a:solidFill>
                  <a:srgbClr val="00B0F0"/>
                </a:solidFill>
              </a:rPr>
              <a:t>546.369371481759</a:t>
            </a:r>
            <a:endParaRPr lang="en-US" sz="2100" dirty="0">
              <a:solidFill>
                <a:srgbClr val="00B0F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153400" cy="1447800"/>
          </a:xfrm>
          <a:solidFill>
            <a:srgbClr val="FFFF00"/>
          </a:solidFill>
        </p:spPr>
        <p:txBody>
          <a:bodyPr>
            <a:normAutofit/>
          </a:bodyPr>
          <a:lstStyle/>
          <a:p>
            <a:r>
              <a:rPr lang="en-US" dirty="0"/>
              <a:t> Actual </a:t>
            </a:r>
            <a:r>
              <a:rPr lang="en-US" dirty="0" err="1"/>
              <a:t>vs</a:t>
            </a:r>
            <a:r>
              <a:rPr lang="en-US" dirty="0"/>
              <a:t> Predicted Data by Random Forest</a:t>
            </a:r>
            <a:endParaRPr lang="en-US" dirty="0">
              <a:solidFill>
                <a:srgbClr val="FFFF00"/>
              </a:solidFill>
            </a:endParaRPr>
          </a:p>
        </p:txBody>
      </p:sp>
      <p:pic>
        <p:nvPicPr>
          <p:cNvPr id="4" name="Content Placeholder 3"/>
          <p:cNvPicPr>
            <a:picLocks noGrp="1"/>
          </p:cNvPicPr>
          <p:nvPr>
            <p:ph idx="1"/>
          </p:nvPr>
        </p:nvPicPr>
        <p:blipFill>
          <a:blip r:embed="rId2"/>
          <a:srcRect/>
          <a:stretch>
            <a:fillRect/>
          </a:stretch>
        </p:blipFill>
        <p:spPr bwMode="auto">
          <a:xfrm>
            <a:off x="838200" y="2133600"/>
            <a:ext cx="7239000" cy="44196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6">
              <a:lumMod val="40000"/>
              <a:lumOff val="60000"/>
            </a:schemeClr>
          </a:solidFill>
        </p:spPr>
        <p:txBody>
          <a:bodyPr/>
          <a:lstStyle/>
          <a:p>
            <a:pPr algn="l"/>
            <a:r>
              <a:rPr lang="en-US" dirty="0"/>
              <a:t>Some basic knowledge:-</a:t>
            </a:r>
          </a:p>
        </p:txBody>
      </p:sp>
      <p:sp>
        <p:nvSpPr>
          <p:cNvPr id="3" name="Subtitle 2"/>
          <p:cNvSpPr>
            <a:spLocks noGrp="1"/>
          </p:cNvSpPr>
          <p:nvPr>
            <p:ph type="subTitle" idx="1"/>
          </p:nvPr>
        </p:nvSpPr>
        <p:spPr>
          <a:xfrm>
            <a:off x="838200" y="2133600"/>
            <a:ext cx="7696200" cy="4267200"/>
          </a:xfrm>
          <a:solidFill>
            <a:schemeClr val="accent6">
              <a:lumMod val="20000"/>
              <a:lumOff val="80000"/>
            </a:schemeClr>
          </a:solidFill>
        </p:spPr>
        <p:txBody>
          <a:bodyPr>
            <a:normAutofit fontScale="92500" lnSpcReduction="10000"/>
          </a:bodyPr>
          <a:lstStyle/>
          <a:p>
            <a:pPr algn="l"/>
            <a:r>
              <a:rPr lang="en-US" sz="2400" dirty="0"/>
              <a:t>1). </a:t>
            </a:r>
            <a:r>
              <a:rPr lang="en-US" sz="2400" dirty="0">
                <a:solidFill>
                  <a:schemeClr val="bg1">
                    <a:lumMod val="50000"/>
                  </a:schemeClr>
                </a:solidFill>
              </a:rPr>
              <a:t>R2_score:- </a:t>
            </a:r>
            <a:r>
              <a:rPr lang="en-US" sz="1800" dirty="0">
                <a:solidFill>
                  <a:schemeClr val="accent5">
                    <a:lumMod val="75000"/>
                  </a:schemeClr>
                </a:solidFill>
              </a:rPr>
              <a:t>R2_score is a statistical measure in a </a:t>
            </a:r>
            <a:r>
              <a:rPr lang="en-US" sz="1800" dirty="0" err="1">
                <a:solidFill>
                  <a:schemeClr val="accent5">
                    <a:lumMod val="75000"/>
                  </a:schemeClr>
                </a:solidFill>
              </a:rPr>
              <a:t>a</a:t>
            </a:r>
            <a:r>
              <a:rPr lang="en-US" sz="1800" dirty="0">
                <a:solidFill>
                  <a:schemeClr val="accent5">
                    <a:lumMod val="75000"/>
                  </a:schemeClr>
                </a:solidFill>
              </a:rPr>
              <a:t> regression model that determines the proportion of variance in the dependent variable that that can explained by the independent variable. In other words, r2_score shows how well the data fit the regression mode. The R2_score which is nearer to 1 is consider to be good. </a:t>
            </a:r>
          </a:p>
          <a:p>
            <a:pPr algn="l"/>
            <a:r>
              <a:rPr lang="en-US" sz="2400" dirty="0">
                <a:solidFill>
                  <a:schemeClr val="bg1">
                    <a:lumMod val="50000"/>
                  </a:schemeClr>
                </a:solidFill>
              </a:rPr>
              <a:t>2). Mean squared error(MSE):- </a:t>
            </a:r>
            <a:r>
              <a:rPr lang="en-US" sz="1900" dirty="0">
                <a:solidFill>
                  <a:schemeClr val="accent5">
                    <a:lumMod val="75000"/>
                  </a:schemeClr>
                </a:solidFill>
              </a:rPr>
              <a:t>MSE is used to check how close estimates or forecasts are to actual values. Lower the MSE, the closer is forecast to actual.  MAE tells us how big of an error we can expect from the forecast on average.</a:t>
            </a:r>
          </a:p>
          <a:p>
            <a:pPr algn="l"/>
            <a:r>
              <a:rPr lang="en-US" sz="2400" dirty="0">
                <a:solidFill>
                  <a:schemeClr val="bg1">
                    <a:lumMod val="50000"/>
                  </a:schemeClr>
                </a:solidFill>
              </a:rPr>
              <a:t>3). Root mean squared error (RMSE):-</a:t>
            </a:r>
            <a:r>
              <a:rPr lang="en-US" sz="1900" dirty="0">
                <a:solidFill>
                  <a:schemeClr val="accent5">
                    <a:lumMod val="75000"/>
                  </a:schemeClr>
                </a:solidFill>
              </a:rPr>
              <a:t>Root mean squared error (RMSE) is the square root of the mean of the square of all of the error. It is considered an excellent general purpose error metric for numerical predictions. R-squared more than 0.75 is a very good value for showing the accuracy .If the RMSE for the test set is much higher than that of the training set, it is likely that you've badly over fit the data.</a:t>
            </a:r>
          </a:p>
          <a:p>
            <a:pPr algn="l"/>
            <a:endParaRPr lang="en-US" sz="2000" dirty="0">
              <a:solidFill>
                <a:schemeClr val="accent5">
                  <a:lumMod val="7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b="1" dirty="0"/>
              <a:t>TOOL USED FOR ANALYSIS</a:t>
            </a:r>
          </a:p>
        </p:txBody>
      </p:sp>
      <p:sp>
        <p:nvSpPr>
          <p:cNvPr id="3" name="Content Placeholder 2"/>
          <p:cNvSpPr>
            <a:spLocks noGrp="1"/>
          </p:cNvSpPr>
          <p:nvPr>
            <p:ph idx="1"/>
          </p:nvPr>
        </p:nvSpPr>
        <p:spPr/>
        <p:txBody>
          <a:bodyPr/>
          <a:lstStyle/>
          <a:p>
            <a:r>
              <a:rPr lang="en-US" b="1" dirty="0">
                <a:solidFill>
                  <a:schemeClr val="tx2">
                    <a:lumMod val="60000"/>
                    <a:lumOff val="40000"/>
                  </a:schemeClr>
                </a:solidFill>
              </a:rPr>
              <a:t>POWER BI:</a:t>
            </a:r>
          </a:p>
          <a:p>
            <a:endParaRPr lang="en-US" b="1" dirty="0">
              <a:solidFill>
                <a:schemeClr val="tx2">
                  <a:lumMod val="60000"/>
                  <a:lumOff val="40000"/>
                </a:schemeClr>
              </a:solidFill>
            </a:endParaRPr>
          </a:p>
        </p:txBody>
      </p:sp>
      <p:pic>
        <p:nvPicPr>
          <p:cNvPr id="4" name="Picture 3" descr="download.jpg"/>
          <p:cNvPicPr>
            <a:picLocks noChangeAspect="1"/>
          </p:cNvPicPr>
          <p:nvPr/>
        </p:nvPicPr>
        <p:blipFill>
          <a:blip r:embed="rId2"/>
          <a:stretch>
            <a:fillRect/>
          </a:stretch>
        </p:blipFill>
        <p:spPr>
          <a:xfrm>
            <a:off x="27213" y="1752600"/>
            <a:ext cx="9116787" cy="5105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solidFill>
            <a:schemeClr val="tx2">
              <a:lumMod val="40000"/>
              <a:lumOff val="60000"/>
            </a:schemeClr>
          </a:solidFill>
        </p:spPr>
        <p:txBody>
          <a:bodyPr/>
          <a:lstStyle/>
          <a:p>
            <a:r>
              <a:rPr lang="en-US" b="1" dirty="0"/>
              <a:t>ANALYSIS USING POWER BI TOOL</a:t>
            </a:r>
          </a:p>
        </p:txBody>
      </p:sp>
      <p:pic>
        <p:nvPicPr>
          <p:cNvPr id="6" name="Content Placeholder 5" descr="Screenshot (27).png"/>
          <p:cNvPicPr>
            <a:picLocks noGrp="1" noChangeAspect="1"/>
          </p:cNvPicPr>
          <p:nvPr>
            <p:ph idx="1"/>
          </p:nvPr>
        </p:nvPicPr>
        <p:blipFill>
          <a:blip r:embed="rId2"/>
          <a:stretch>
            <a:fillRect/>
          </a:stretch>
        </p:blipFill>
        <p:spPr>
          <a:xfrm>
            <a:off x="0" y="1752600"/>
            <a:ext cx="9144000" cy="51054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1470025"/>
          </a:xfrm>
          <a:solidFill>
            <a:schemeClr val="accent3">
              <a:lumMod val="40000"/>
              <a:lumOff val="60000"/>
            </a:schemeClr>
          </a:solidFill>
        </p:spPr>
        <p:txBody>
          <a:bodyPr/>
          <a:lstStyle/>
          <a:p>
            <a:r>
              <a:rPr lang="en-US" dirty="0"/>
              <a:t>RESULT</a:t>
            </a:r>
          </a:p>
        </p:txBody>
      </p:sp>
      <p:sp>
        <p:nvSpPr>
          <p:cNvPr id="7" name="Subtitle 6"/>
          <p:cNvSpPr>
            <a:spLocks noGrp="1"/>
          </p:cNvSpPr>
          <p:nvPr>
            <p:ph type="subTitle" idx="1"/>
          </p:nvPr>
        </p:nvSpPr>
        <p:spPr>
          <a:xfrm>
            <a:off x="762000" y="2209800"/>
            <a:ext cx="7772400" cy="3733800"/>
          </a:xfrm>
        </p:spPr>
        <p:txBody>
          <a:bodyPr>
            <a:normAutofit/>
          </a:bodyPr>
          <a:lstStyle/>
          <a:p>
            <a:r>
              <a:rPr lang="en-US" sz="2000" dirty="0">
                <a:solidFill>
                  <a:schemeClr val="tx1"/>
                </a:solidFill>
              </a:rPr>
              <a:t>mean_absolute_error,r2_score ,</a:t>
            </a:r>
            <a:r>
              <a:rPr lang="en-US" sz="2000" dirty="0" err="1">
                <a:solidFill>
                  <a:schemeClr val="tx1"/>
                </a:solidFill>
              </a:rPr>
              <a:t>root_mean_squared_error</a:t>
            </a:r>
            <a:r>
              <a:rPr lang="en-US" sz="2000" dirty="0">
                <a:solidFill>
                  <a:schemeClr val="tx1"/>
                </a:solidFill>
              </a:rPr>
              <a:t> (RMSE):-   </a:t>
            </a:r>
          </a:p>
        </p:txBody>
      </p:sp>
      <p:graphicFrame>
        <p:nvGraphicFramePr>
          <p:cNvPr id="4" name="Table 3"/>
          <p:cNvGraphicFramePr>
            <a:graphicFrameLocks noGrp="1"/>
          </p:cNvGraphicFramePr>
          <p:nvPr/>
        </p:nvGraphicFramePr>
        <p:xfrm>
          <a:off x="1447800" y="3048000"/>
          <a:ext cx="6553200" cy="2438401"/>
        </p:xfrm>
        <a:graphic>
          <a:graphicData uri="http://schemas.openxmlformats.org/drawingml/2006/table">
            <a:tbl>
              <a:tblPr/>
              <a:tblGrid>
                <a:gridCol w="16383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tblGrid>
              <a:tr h="1445363">
                <a:tc>
                  <a:txBody>
                    <a:bodyPr/>
                    <a:lstStyle/>
                    <a:p>
                      <a:pPr marL="0" marR="0">
                        <a:lnSpc>
                          <a:spcPct val="115000"/>
                        </a:lnSpc>
                        <a:spcBef>
                          <a:spcPts val="0"/>
                        </a:spcBef>
                        <a:spcAft>
                          <a:spcPts val="0"/>
                        </a:spcAft>
                      </a:pPr>
                      <a:r>
                        <a:rPr lang="en-US" sz="1100" b="1" dirty="0">
                          <a:latin typeface="Calibri"/>
                          <a:ea typeface="Times New Roman"/>
                          <a:cs typeface="Times New Roman"/>
                        </a:rPr>
                        <a:t>      </a:t>
                      </a:r>
                      <a:endParaRPr lang="en-US" sz="1100" dirty="0">
                        <a:latin typeface="Calibri"/>
                        <a:ea typeface="Times New Roman"/>
                        <a:cs typeface="Times New Roman"/>
                      </a:endParaRPr>
                    </a:p>
                    <a:p>
                      <a:pPr marL="0" marR="0">
                        <a:lnSpc>
                          <a:spcPct val="115000"/>
                        </a:lnSpc>
                        <a:spcBef>
                          <a:spcPts val="0"/>
                        </a:spcBef>
                        <a:spcAft>
                          <a:spcPts val="0"/>
                        </a:spcAft>
                      </a:pPr>
                      <a:r>
                        <a:rPr lang="en-US" sz="1100" b="1" dirty="0">
                          <a:latin typeface="Calibri"/>
                          <a:ea typeface="Times New Roman"/>
                          <a:cs typeface="Times New Roman"/>
                        </a:rPr>
                        <a:t>           </a:t>
                      </a:r>
                      <a:r>
                        <a:rPr lang="en-US" sz="1100" dirty="0">
                          <a:latin typeface="Calibri"/>
                          <a:ea typeface="Times New Roman"/>
                          <a:cs typeface="Times New Roman"/>
                        </a:rPr>
                        <a:t>Name</a:t>
                      </a: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dirty="0">
                          <a:latin typeface="Calibri"/>
                          <a:ea typeface="Times New Roman"/>
                          <a:cs typeface="Times New Roman"/>
                        </a:rPr>
                        <a:t>                                         </a:t>
                      </a:r>
                    </a:p>
                    <a:p>
                      <a:pPr marL="0" marR="0">
                        <a:lnSpc>
                          <a:spcPct val="115000"/>
                        </a:lnSpc>
                        <a:spcBef>
                          <a:spcPts val="0"/>
                        </a:spcBef>
                        <a:spcAft>
                          <a:spcPts val="0"/>
                        </a:spcAft>
                      </a:pPr>
                      <a:r>
                        <a:rPr lang="en-US" sz="1100" dirty="0">
                          <a:latin typeface="Calibri"/>
                          <a:ea typeface="Times New Roman"/>
                          <a:cs typeface="Times New Roman"/>
                        </a:rPr>
                        <a:t>        r2_score</a:t>
                      </a: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dirty="0">
                          <a:latin typeface="Calibri"/>
                          <a:ea typeface="Times New Roman"/>
                          <a:cs typeface="Times New Roman"/>
                        </a:rPr>
                        <a:t>                                    Root Mean Square Error (RMSE) value.</a:t>
                      </a: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100" dirty="0">
                        <a:solidFill>
                          <a:srgbClr val="000000"/>
                        </a:solidFill>
                        <a:latin typeface="Calibri"/>
                        <a:ea typeface="Times New Roman"/>
                        <a:cs typeface="Times New Roman"/>
                      </a:endParaRPr>
                    </a:p>
                    <a:p>
                      <a:pPr marL="0" marR="0">
                        <a:lnSpc>
                          <a:spcPct val="115000"/>
                        </a:lnSpc>
                        <a:spcBef>
                          <a:spcPts val="0"/>
                        </a:spcBef>
                        <a:spcAft>
                          <a:spcPts val="0"/>
                        </a:spcAft>
                      </a:pPr>
                      <a:r>
                        <a:rPr lang="en-US" sz="1100" dirty="0" err="1">
                          <a:solidFill>
                            <a:srgbClr val="000000"/>
                          </a:solidFill>
                          <a:latin typeface="Calibri"/>
                          <a:ea typeface="Times New Roman"/>
                          <a:cs typeface="Times New Roman"/>
                        </a:rPr>
                        <a:t>mean_absolute_error</a:t>
                      </a:r>
                      <a:endParaRPr lang="en-US" sz="1100" dirty="0">
                        <a:latin typeface="Calibri"/>
                        <a:ea typeface="Times New Roman"/>
                        <a:cs typeface="Times New Roman"/>
                      </a:endParaRP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1788">
                <a:tc>
                  <a:txBody>
                    <a:bodyPr/>
                    <a:lstStyle/>
                    <a:p>
                      <a:pPr marL="0" marR="0">
                        <a:lnSpc>
                          <a:spcPct val="115000"/>
                        </a:lnSpc>
                        <a:spcBef>
                          <a:spcPts val="0"/>
                        </a:spcBef>
                        <a:spcAft>
                          <a:spcPts val="0"/>
                        </a:spcAft>
                      </a:pPr>
                      <a:r>
                        <a:rPr lang="en-US" sz="1100">
                          <a:latin typeface="Calibri"/>
                          <a:ea typeface="Times New Roman"/>
                          <a:cs typeface="Times New Roman"/>
                        </a:rPr>
                        <a:t>   Linear Regression</a:t>
                      </a: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a:solidFill>
                            <a:srgbClr val="4F81BD"/>
                          </a:solidFill>
                          <a:latin typeface="Calibri"/>
                          <a:ea typeface="Times New Roman"/>
                          <a:cs typeface="Times New Roman"/>
                        </a:rPr>
                        <a:t>0.5829985235005208</a:t>
                      </a:r>
                      <a:endParaRPr lang="en-US" sz="1100">
                        <a:latin typeface="Calibri"/>
                        <a:ea typeface="Times New Roman"/>
                        <a:cs typeface="Times New Roman"/>
                      </a:endParaRP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dirty="0">
                          <a:solidFill>
                            <a:srgbClr val="4F81BD"/>
                          </a:solidFill>
                          <a:latin typeface="Calibri"/>
                          <a:ea typeface="Times New Roman"/>
                          <a:cs typeface="Times New Roman"/>
                        </a:rPr>
                        <a:t>599.4950981614279</a:t>
                      </a:r>
                      <a:endParaRPr lang="en-US" sz="1100" dirty="0">
                        <a:latin typeface="Calibri"/>
                        <a:ea typeface="Times New Roman"/>
                        <a:cs typeface="Times New Roman"/>
                      </a:endParaRP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a:solidFill>
                            <a:srgbClr val="4F81BD"/>
                          </a:solidFill>
                          <a:latin typeface="Calibri"/>
                          <a:ea typeface="Times New Roman"/>
                          <a:cs typeface="Times New Roman"/>
                        </a:rPr>
                        <a:t>477.9858904633177</a:t>
                      </a:r>
                      <a:endParaRPr lang="en-US" sz="1100">
                        <a:latin typeface="Calibri"/>
                        <a:ea typeface="Times New Roman"/>
                        <a:cs typeface="Times New Roman"/>
                      </a:endParaRP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11250">
                <a:tc>
                  <a:txBody>
                    <a:bodyPr/>
                    <a:lstStyle/>
                    <a:p>
                      <a:pPr marL="0" marR="0">
                        <a:lnSpc>
                          <a:spcPct val="115000"/>
                        </a:lnSpc>
                        <a:spcBef>
                          <a:spcPts val="0"/>
                        </a:spcBef>
                        <a:spcAft>
                          <a:spcPts val="0"/>
                        </a:spcAft>
                      </a:pPr>
                      <a:r>
                        <a:rPr lang="en-US" sz="1100">
                          <a:latin typeface="Calibri"/>
                          <a:ea typeface="Times New Roman"/>
                          <a:cs typeface="Times New Roman"/>
                        </a:rPr>
                        <a:t>     Random Forest</a:t>
                      </a: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a:solidFill>
                            <a:srgbClr val="4F81BD"/>
                          </a:solidFill>
                          <a:latin typeface="Calibri"/>
                          <a:ea typeface="Times New Roman"/>
                          <a:cs typeface="Times New Roman"/>
                        </a:rPr>
                        <a:t>0.6536310037610501</a:t>
                      </a:r>
                      <a:endParaRPr lang="en-US" sz="1100">
                        <a:latin typeface="Calibri"/>
                        <a:ea typeface="Times New Roman"/>
                        <a:cs typeface="Times New Roman"/>
                      </a:endParaRP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a:solidFill>
                            <a:srgbClr val="4F81BD"/>
                          </a:solidFill>
                          <a:latin typeface="Calibri"/>
                          <a:ea typeface="Times New Roman"/>
                          <a:cs typeface="Times New Roman"/>
                        </a:rPr>
                        <a:t>546.369371481759</a:t>
                      </a:r>
                      <a:endParaRPr lang="en-US" sz="1100">
                        <a:latin typeface="Calibri"/>
                        <a:ea typeface="Times New Roman"/>
                        <a:cs typeface="Times New Roman"/>
                      </a:endParaRP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dirty="0">
                          <a:solidFill>
                            <a:srgbClr val="4F81BD"/>
                          </a:solidFill>
                          <a:latin typeface="Calibri"/>
                          <a:ea typeface="Times New Roman"/>
                          <a:cs typeface="Times New Roman"/>
                        </a:rPr>
                        <a:t>417.9643988269795</a:t>
                      </a:r>
                      <a:endParaRPr lang="en-US" sz="1100" dirty="0">
                        <a:latin typeface="Calibri"/>
                        <a:ea typeface="Times New Roman"/>
                        <a:cs typeface="Times New Roman"/>
                      </a:endParaRPr>
                    </a:p>
                  </a:txBody>
                  <a:tcPr marL="66556" marR="66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TotalTime>
  <Words>712</Words>
  <Application>Microsoft Office PowerPoint</Application>
  <PresentationFormat>On-screen Show (4:3)</PresentationFormat>
  <Paragraphs>83</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Algerian</vt:lpstr>
      <vt:lpstr>Arial</vt:lpstr>
      <vt:lpstr>Calibri</vt:lpstr>
      <vt:lpstr>Office Theme</vt:lpstr>
      <vt:lpstr>BIG MART SALES ANALYSIS           </vt:lpstr>
      <vt:lpstr>PROBLEM STATEMENT </vt:lpstr>
      <vt:lpstr> DATA AND SOURCES OF DATA:- </vt:lpstr>
      <vt:lpstr> Step used in jupyter notebook To predict sales:- </vt:lpstr>
      <vt:lpstr>DATA VISUALIZATION</vt:lpstr>
      <vt:lpstr>GRAPHS USING : MATPLOTLIB &amp; SEABORN </vt:lpstr>
      <vt:lpstr>GRAPHS</vt:lpstr>
      <vt:lpstr>MACHINE LEARING TECHNIQUE USED:</vt:lpstr>
      <vt:lpstr>Linear regression</vt:lpstr>
      <vt:lpstr>Actual vs Predicted Data by linear regression</vt:lpstr>
      <vt:lpstr>RANDOM FOREST REGRESSOR</vt:lpstr>
      <vt:lpstr>Random Forest</vt:lpstr>
      <vt:lpstr> Actual vs Predicted Data by Random Forest</vt:lpstr>
      <vt:lpstr>Some basic knowledge:-</vt:lpstr>
      <vt:lpstr>TOOL USED FOR ANALYSIS</vt:lpstr>
      <vt:lpstr>ANALYSIS USING POWER BI TOOL</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Work</dc:title>
  <dc:creator>cdac</dc:creator>
  <cp:lastModifiedBy>abhishek sharma</cp:lastModifiedBy>
  <cp:revision>39</cp:revision>
  <dcterms:created xsi:type="dcterms:W3CDTF">2006-08-16T00:00:00Z</dcterms:created>
  <dcterms:modified xsi:type="dcterms:W3CDTF">2026-01-06T15:06:04Z</dcterms:modified>
</cp:coreProperties>
</file>